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— Slide 1: Executive Framing</a:t>
            </a:r>
          </a:p>
          <a:p>
            <a:r>
              <a:t>=============================================</a:t>
            </a:r>
          </a:p>
          <a:p/>
          <a:p>
            <a:r>
              <a:t>OPENING (60 seconds)</a:t>
            </a:r>
          </a:p>
          <a:p>
            <a:r>
              <a:t>• Start by anchoring on the CUSTOMER problem, not the technology.</a:t>
            </a:r>
          </a:p>
          <a:p>
            <a:r>
              <a:t>  "Customers today cannot reliably tell whether their SentinelOne agents are healthy."</a:t>
            </a:r>
          </a:p>
          <a:p>
            <a:r>
              <a:t>• Frame the assignment as a leadership test, not just architecture.</a:t>
            </a:r>
          </a:p>
          <a:p/>
          <a:p>
            <a:r>
              <a:t>KEY TALKING POINTS</a:t>
            </a:r>
          </a:p>
          <a:p>
            <a:r>
              <a:t>1. Four outcomes — Customer / Platform / Execution / Org — show you understand</a:t>
            </a:r>
          </a:p>
          <a:p>
            <a:r>
              <a:t>   this is more than a feature build.</a:t>
            </a:r>
          </a:p>
          <a:p>
            <a:r>
              <a:t>2. KPIs are concrete and measurable. Call out the &lt;5-minute detection freshness</a:t>
            </a:r>
          </a:p>
          <a:p>
            <a:r>
              <a:t>   as the hardest constraint that drives the architecture.</a:t>
            </a:r>
          </a:p>
          <a:p>
            <a:r>
              <a:t>3. Leadership thesis: staged scope, evidence-based decisions, protect current</a:t>
            </a:r>
          </a:p>
          <a:p>
            <a:r>
              <a:t>   customers. This separates you from candidates who only talk technology.</a:t>
            </a:r>
          </a:p>
          <a:p/>
          <a:p>
            <a:r>
              <a:t>ANTICIPATED QUESTIONS</a:t>
            </a:r>
          </a:p>
          <a:p>
            <a:r>
              <a:t>• "Why not start with all anomaly types?"</a:t>
            </a:r>
          </a:p>
          <a:p>
            <a:r>
              <a:t>  → Explain ruthless MVP scoping; we prove correctness on 4 signals first.</a:t>
            </a:r>
          </a:p>
          <a:p>
            <a:r>
              <a:t>• "How do you balance new-platform velocity with legacy maintenance?"</a:t>
            </a:r>
          </a:p>
          <a:p>
            <a:r>
              <a:t>  → Preview the dedicated stabilization lane (Slide 8).</a:t>
            </a:r>
          </a:p>
          <a:p/>
          <a:p>
            <a:r>
              <a:t>TRANSITION → "Let me show you how I scoped the MVP and set SLOs before</a:t>
            </a:r>
          </a:p>
          <a:p>
            <a:r>
              <a:t>discussing architecture choices."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— Slide 2: Scope, SLOs &amp; Guardrails</a:t>
            </a:r>
          </a:p>
          <a:p>
            <a:r>
              <a:t>====================================================</a:t>
            </a:r>
          </a:p>
          <a:p/>
          <a:p>
            <a:r>
              <a:t>PURPOSE</a:t>
            </a:r>
          </a:p>
          <a:p>
            <a:r>
              <a:t>Show the audience you scope BEFORE designing. Most SEM candidates jump to</a:t>
            </a:r>
          </a:p>
          <a:p>
            <a:r>
              <a:t>architecture; you start with requirements discipline.</a:t>
            </a:r>
          </a:p>
          <a:p/>
          <a:p>
            <a:r>
              <a:t>KEY TALKING POINTS</a:t>
            </a:r>
          </a:p>
          <a:p>
            <a:r>
              <a:t>1. MVP limits to 4 anomaly types — high signal, customer-actionable.</a:t>
            </a:r>
          </a:p>
          <a:p>
            <a:r>
              <a:t>   Everything else is explicitly deferred to reduce delivery risk.</a:t>
            </a:r>
          </a:p>
          <a:p>
            <a:r>
              <a:t>2. SLO table: call out "silent gap detection" — this is the most dangerous</a:t>
            </a:r>
          </a:p>
          <a:p>
            <a:r>
              <a:t>   failure mode in a security product (stale green dashboards).</a:t>
            </a:r>
          </a:p>
          <a:p>
            <a:r>
              <a:t>3. GA scope adds alert lifecycle, suppression, and shadow migration.</a:t>
            </a:r>
          </a:p>
          <a:p>
            <a:r>
              <a:t>   Shadow validation is critical: we do NOT flip source-of-truth until we can</a:t>
            </a:r>
          </a:p>
          <a:p>
            <a:r>
              <a:t>   quantify false-positive/negative rates.</a:t>
            </a:r>
          </a:p>
          <a:p>
            <a:r>
              <a:t>4. Guardrail: prevents scope creep. Every feature request during MVP must pass</a:t>
            </a:r>
          </a:p>
          <a:p>
            <a:r>
              <a:t>   the "actionability or de-risk" test.</a:t>
            </a:r>
          </a:p>
          <a:p/>
          <a:p>
            <a:r>
              <a:t>DATA POINTS TO MENTION</a:t>
            </a:r>
          </a:p>
          <a:p>
            <a:r>
              <a:t>• Billions of events/day at millions of agents.</a:t>
            </a:r>
          </a:p>
          <a:p>
            <a:r>
              <a:t>• Multi-tenant isolation with fair-usage controls.</a:t>
            </a:r>
          </a:p>
          <a:p>
            <a:r>
              <a:t>• At-least-once delivery with idempotent processing.</a:t>
            </a:r>
          </a:p>
          <a:p/>
          <a:p>
            <a:r>
              <a:t>ANTICIPATED QUESTIONS</a:t>
            </a:r>
          </a:p>
          <a:p>
            <a:r>
              <a:t>• "Why not add notifications in MVP?"</a:t>
            </a:r>
          </a:p>
          <a:p>
            <a:r>
              <a:t>  → Notifications add blast-radius risk; we need correctness first.</a:t>
            </a:r>
          </a:p>
          <a:p>
            <a:r>
              <a:t>• "How do you measure the 5-minute freshness SLO?"</a:t>
            </a:r>
          </a:p>
          <a:p>
            <a:r>
              <a:t>  → Synthetic events flowing end-to-end (preview Slide 6).</a:t>
            </a:r>
          </a:p>
          <a:p/>
          <a:p>
            <a:r>
              <a:t>TRANSITION → "With scope locked, let me walk you through the reference</a:t>
            </a:r>
          </a:p>
          <a:p>
            <a:r>
              <a:t>architecture that satisfies these SLOs."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— Slide 3: Reference Architecture</a:t>
            </a:r>
          </a:p>
          <a:p>
            <a:r>
              <a:t>===================================================</a:t>
            </a:r>
          </a:p>
          <a:p/>
          <a:p>
            <a:r>
              <a:t>PURPOSE</a:t>
            </a:r>
          </a:p>
          <a:p>
            <a:r>
              <a:t>Present a cloud-neutral, replayable architecture. Emphasize the</a:t>
            </a:r>
          </a:p>
          <a:p>
            <a:r>
              <a:t>SEPARATION OF CONCERNS (hot / read / cold) — this is what makes the</a:t>
            </a:r>
          </a:p>
          <a:p>
            <a:r>
              <a:t>system scalable and operable.</a:t>
            </a:r>
          </a:p>
          <a:p/>
          <a:p>
            <a:r>
              <a:t>WALK-THROUGH (left to right, ~90 seconds)</a:t>
            </a:r>
          </a:p>
          <a:p>
            <a:r>
              <a:t>1. Agents → Ingestion Gateway: authentication, rate-limiting, routing.</a:t>
            </a:r>
          </a:p>
          <a:p>
            <a:r>
              <a:t>   Gateway team owns this; we consume via a versioned telemetry contract.</a:t>
            </a:r>
          </a:p>
          <a:p>
            <a:r>
              <a:t>2. Durable Event Bus: partitioned by tenant + agent ID.</a:t>
            </a:r>
          </a:p>
          <a:p>
            <a:r>
              <a:t>   At-least-once delivery; replay is the key capability.</a:t>
            </a:r>
          </a:p>
          <a:p>
            <a:r>
              <a:t>3. Stream Processing → Rules + Coalescing: real-time anomaly detection.</a:t>
            </a:r>
          </a:p>
          <a:p>
            <a:r>
              <a:t>   This is where the 5-min SLO is enforced.</a:t>
            </a:r>
          </a:p>
          <a:p>
            <a:r>
              <a:t>4. Alert State Store: write-optimized, tenant/agent-keyed.</a:t>
            </a:r>
          </a:p>
          <a:p>
            <a:r>
              <a:t>5. Read Model + Search: pre-aggregated views for console queries.</a:t>
            </a:r>
          </a:p>
          <a:p>
            <a:r>
              <a:t>6. APIs + Console: bounded queries, pagination, freshness metadata.</a:t>
            </a:r>
          </a:p>
          <a:p/>
          <a:p>
            <a:r>
              <a:t>COLD PATH</a:t>
            </a:r>
          </a:p>
          <a:p>
            <a:r>
              <a:t>• Data Lake stores every event for audit, replay, and rule tuning.</a:t>
            </a:r>
          </a:p>
          <a:p>
            <a:r>
              <a:t>• Lifecycle Store tracks alert history for compliance.</a:t>
            </a:r>
          </a:p>
          <a:p/>
          <a:p>
            <a:r>
              <a:t>TECHNOLOGY CHOICES</a:t>
            </a:r>
          </a:p>
          <a:p>
            <a:r>
              <a:t>• Deliberately cloud-neutral labels. In the interview, mention:</a:t>
            </a:r>
          </a:p>
          <a:p>
            <a:r>
              <a:t>  Kafka or PubSub, Flink or Kafka Streams, DynamoDB or Cassandra,</a:t>
            </a:r>
          </a:p>
          <a:p>
            <a:r>
              <a:t>  OpenSearch or Elasticsearch, S3/GCS for the data lake.</a:t>
            </a:r>
          </a:p>
          <a:p>
            <a:r>
              <a:t>• Do NOT over-commit to specific vendors; show flexibility.</a:t>
            </a:r>
          </a:p>
          <a:p/>
          <a:p>
            <a:r>
              <a:t>DESIGN PRINCIPLES</a:t>
            </a:r>
          </a:p>
          <a:p>
            <a:r>
              <a:t>• Write path never shares resources with read path.</a:t>
            </a:r>
          </a:p>
          <a:p>
            <a:r>
              <a:t>• Every stage emits metrics for pipeline-health monitoring (Slide 6).</a:t>
            </a:r>
          </a:p>
          <a:p>
            <a:r>
              <a:t>• Replay-from-offset is the primary recovery mechanism.</a:t>
            </a:r>
          </a:p>
          <a:p/>
          <a:p>
            <a:r>
              <a:t>ANTICIPATED QUESTIONS</a:t>
            </a:r>
          </a:p>
          <a:p>
            <a:r>
              <a:t>• "Why not a single database?"</a:t>
            </a:r>
          </a:p>
          <a:p>
            <a:r>
              <a:t>  → Different access patterns require different stores; forcing one</a:t>
            </a:r>
          </a:p>
          <a:p>
            <a:r>
              <a:t>    store to serve writes + queries + analytics creates contention.</a:t>
            </a:r>
          </a:p>
          <a:p>
            <a:r>
              <a:t>• "How do you handle schema evolution?"</a:t>
            </a:r>
          </a:p>
          <a:p>
            <a:r>
              <a:t>  → Versioned telemetry contract with backward-compat validation.</a:t>
            </a:r>
          </a:p>
          <a:p/>
          <a:p>
            <a:r>
              <a:t>TRANSITION → "Let me zoom into the read path and how we hit the 200ms</a:t>
            </a:r>
          </a:p>
          <a:p>
            <a:r>
              <a:t>latency target."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— Slide 4: Read Path &amp; Latency Budget</a:t>
            </a:r>
          </a:p>
          <a:p>
            <a:r>
              <a:t>=======================================================</a:t>
            </a:r>
          </a:p>
          <a:p/>
          <a:p>
            <a:r>
              <a:t>PURPOSE</a:t>
            </a:r>
          </a:p>
          <a:p>
            <a:r>
              <a:t>Demonstrate that the 200ms p95 target is achievable through design, not</a:t>
            </a:r>
          </a:p>
          <a:p>
            <a:r>
              <a:t>hope. Show you've thought through every millisecond of the request path.</a:t>
            </a:r>
          </a:p>
          <a:p/>
          <a:p>
            <a:r>
              <a:t>WALK-THROUGH</a:t>
            </a:r>
          </a:p>
          <a:p>
            <a:r>
              <a:t>1. Console → APIs → Read Model → Search → Alert State.</a:t>
            </a:r>
          </a:p>
          <a:p>
            <a:r>
              <a:t>   Data flows RIGHT to LEFT in the query path.</a:t>
            </a:r>
          </a:p>
          <a:p>
            <a:r>
              <a:t>2. Latency budget adds up to ~150–220 ms.  We have headroom under p95.</a:t>
            </a:r>
          </a:p>
          <a:p>
            <a:r>
              <a:t>3. Key insight: the UI queries PRECOMPUTED VIEWS, not raw events.</a:t>
            </a:r>
          </a:p>
          <a:p/>
          <a:p>
            <a:r>
              <a:t>IMPORTANT DESIGN CHOICES</a:t>
            </a:r>
          </a:p>
          <a:p>
            <a:r>
              <a:t>• Graceful Degradation: if search index lags, the API returns current</a:t>
            </a:r>
          </a:p>
          <a:p>
            <a:r>
              <a:t>  alert state with freshness metadata.  The console shows "data may be</a:t>
            </a:r>
          </a:p>
          <a:p>
            <a:r>
              <a:t>  delayed" instead of stale green.  This is critical for a security</a:t>
            </a:r>
          </a:p>
          <a:p>
            <a:r>
              <a:t>  product.</a:t>
            </a:r>
          </a:p>
          <a:p>
            <a:r>
              <a:t>• Query Discipline: bounded queries prevent runaway scans.  No</a:t>
            </a:r>
          </a:p>
          <a:p>
            <a:r>
              <a:t>  "select * from events where tenant=X" from the dashboard.</a:t>
            </a:r>
          </a:p>
          <a:p>
            <a:r>
              <a:t>• Correctness: at-least-once + idempotent transitions means we can</a:t>
            </a:r>
          </a:p>
          <a:p>
            <a:r>
              <a:t>  safely replay without creating duplicate alerts.</a:t>
            </a:r>
          </a:p>
          <a:p/>
          <a:p>
            <a:r>
              <a:t>LATENCY BUDGET DEEP-DIVE (if asked)</a:t>
            </a:r>
          </a:p>
          <a:p>
            <a:r>
              <a:t>• Auth/gateway: JWT validation, tenant-scoped claims, rate shaping.</a:t>
            </a:r>
          </a:p>
          <a:p>
            <a:r>
              <a:t>• Orchestration: single API call to the read model, no service fanout.</a:t>
            </a:r>
          </a:p>
          <a:p>
            <a:r>
              <a:t>• Read store: OpenSearch query with pre-aggregated alert-count views.</a:t>
            </a:r>
          </a:p>
          <a:p>
            <a:r>
              <a:t>• Serialization: protobuf or slim JSON, paginated to max 100 items.</a:t>
            </a:r>
          </a:p>
          <a:p/>
          <a:p>
            <a:r>
              <a:t>ANTICIPATED QUESTIONS</a:t>
            </a:r>
          </a:p>
          <a:p>
            <a:r>
              <a:t>• "What if a tenant has 100K agents?"</a:t>
            </a:r>
          </a:p>
          <a:p>
            <a:r>
              <a:t>  → Pagination + server-side aggregation.  Dashboard shows top-N with</a:t>
            </a:r>
          </a:p>
          <a:p>
            <a:r>
              <a:t>    drill-down, not a flat list.</a:t>
            </a:r>
          </a:p>
          <a:p>
            <a:r>
              <a:t>• "How do you cache?"</a:t>
            </a:r>
          </a:p>
          <a:p>
            <a:r>
              <a:t>  → Tenant-level dashboard summaries with TTL-based invalidation.</a:t>
            </a:r>
          </a:p>
          <a:p>
            <a:r>
              <a:t>    Per-agent pages are not cached.</a:t>
            </a:r>
          </a:p>
          <a:p/>
          <a:p>
            <a:r>
              <a:t>TRANSITION → "Now let me show you the hardest technical problem: alert</a:t>
            </a:r>
          </a:p>
          <a:p>
            <a:r>
              <a:t>coalescing within the 5-minute SLO."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— Slide 5: Alert Coalescing Design</a:t>
            </a:r>
          </a:p>
          <a:p>
            <a:r>
              <a:t>====================================================</a:t>
            </a:r>
          </a:p>
          <a:p/>
          <a:p>
            <a:r>
              <a:t>PURPOSE</a:t>
            </a:r>
          </a:p>
          <a:p>
            <a:r>
              <a:t>This is the HARDEST TECHNICAL PROBLEM in the design.  Show that you</a:t>
            </a:r>
          </a:p>
          <a:p>
            <a:r>
              <a:t>understand the trade-off and can make an evidence-based decision.</a:t>
            </a:r>
          </a:p>
          <a:p/>
          <a:p>
            <a:r>
              <a:t>EXAMPLE WALK-THROUGH (point to timeline)</a:t>
            </a:r>
          </a:p>
          <a:p>
            <a:r>
              <a:t>• 50 anti-tamper events from one agent over 10 minutes.</a:t>
            </a:r>
          </a:p>
          <a:p>
            <a:r>
              <a:t>• Without coalescing, the dashboard shows 50 separate alerts → noise.</a:t>
            </a:r>
          </a:p>
          <a:p>
            <a:r>
              <a:t>• With coalescing: key by tenant+agent → tumbling window → state machine</a:t>
            </a:r>
          </a:p>
          <a:p>
            <a:r>
              <a:t>  emits ONE alert with evidence count.</a:t>
            </a:r>
          </a:p>
          <a:p/>
          <a:p>
            <a:r>
              <a:t>STATE MACHINE TRANSITIONS</a:t>
            </a:r>
          </a:p>
          <a:p>
            <a:r>
              <a:t>  Open → Update Evidence → Suppress Duplicate → Resolve (healthy signal)</a:t>
            </a:r>
          </a:p>
          <a:p>
            <a:r>
              <a:t>  Each transition is idempotent using (tenant, agent, rule, window) key.</a:t>
            </a:r>
          </a:p>
          <a:p/>
          <a:p>
            <a:r>
              <a:t>WHY STREAM PROCESSING OVER CRON</a:t>
            </a:r>
          </a:p>
          <a:p>
            <a:r>
              <a:t>1. Freshness: the 5-min SLO cannot be reliably met with periodic batch.</a:t>
            </a:r>
          </a:p>
          <a:p>
            <a:r>
              <a:t>2. Scale: scanning billions of events in cron is expensive.</a:t>
            </a:r>
          </a:p>
          <a:p>
            <a:r>
              <a:t>3. Replay: stream offsets give free replay; cron needs custom backfill.</a:t>
            </a:r>
          </a:p>
          <a:p>
            <a:r>
              <a:t>4. Intermediate state: cron creates half-processed records.</a:t>
            </a:r>
          </a:p>
          <a:p/>
          <a:p>
            <a:r>
              <a:t>COMPLEXITY CONTROLS (critical for credibility)</a:t>
            </a:r>
          </a:p>
          <a:p>
            <a:r>
              <a:t>• Only 4 rules in MVP — no generic rule engine.</a:t>
            </a:r>
          </a:p>
          <a:p>
            <a:r>
              <a:t>• Explicit tumbling windows (configurable per rule).</a:t>
            </a:r>
          </a:p>
          <a:p>
            <a:r>
              <a:t>• Idempotent state updates.</a:t>
            </a:r>
          </a:p>
          <a:p>
            <a:r>
              <a:t>• Per-rule metrics: processing lag, emit rate, error rate.</a:t>
            </a:r>
          </a:p>
          <a:p>
            <a:r>
              <a:t>• Rollback flags: disable individual rules without redeploying.</a:t>
            </a:r>
          </a:p>
          <a:p/>
          <a:p>
            <a:r>
              <a:t>THIS IS THE ENGINEER A vs ENGINEER B DEBATE</a:t>
            </a:r>
          </a:p>
          <a:p>
            <a:r>
              <a:t>• Preview that you expect stream processing to win, but you'll run a</a:t>
            </a:r>
          </a:p>
          <a:p>
            <a:r>
              <a:t>  structured decision process (Slide 9).</a:t>
            </a:r>
          </a:p>
          <a:p/>
          <a:p>
            <a:r>
              <a:t>ANTICIPATED QUESTIONS</a:t>
            </a:r>
          </a:p>
          <a:p>
            <a:r>
              <a:t>• "What if a rule is buggy?"</a:t>
            </a:r>
          </a:p>
          <a:p>
            <a:r>
              <a:t>  → Feature flag per rule.  Disable instantly.  Roll back to last-known-</a:t>
            </a:r>
          </a:p>
          <a:p>
            <a:r>
              <a:t>    good rule version.</a:t>
            </a:r>
          </a:p>
          <a:p>
            <a:r>
              <a:t>• "How do you test coalescing logic?"</a:t>
            </a:r>
          </a:p>
          <a:p>
            <a:r>
              <a:t>  → Unit tests with synthetic event sequences.  Integration tests with</a:t>
            </a:r>
          </a:p>
          <a:p>
            <a:r>
              <a:t>    replayed production data (scrubbed).</a:t>
            </a:r>
          </a:p>
          <a:p/>
          <a:p>
            <a:r>
              <a:t>TRANSITION → "How do we know all of this is working correctly in</a:t>
            </a:r>
          </a:p>
          <a:p>
            <a:r>
              <a:t>production?  Let me walk through the reliability model."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— Slide 6: Reliability &amp; Sev-1 Runbook</a:t>
            </a:r>
          </a:p>
          <a:p>
            <a:r>
              <a:t>========================================================</a:t>
            </a:r>
          </a:p>
          <a:p/>
          <a:p>
            <a:r>
              <a:t>PURPOSE</a:t>
            </a:r>
          </a:p>
          <a:p>
            <a:r>
              <a:t>This slide is CRITICAL. It demonstrates operational maturity — the #1</a:t>
            </a:r>
          </a:p>
          <a:p>
            <a:r>
              <a:t>differentiator for a Senior EM candidate.</a:t>
            </a:r>
          </a:p>
          <a:p/>
          <a:p>
            <a:r>
              <a:t>OBSERVABILITY PIPELINE (top diagram)</a:t>
            </a:r>
          </a:p>
          <a:p>
            <a:r>
              <a:t>Walk through each stage LEFT to RIGHT:</a:t>
            </a:r>
          </a:p>
          <a:p>
            <a:r>
              <a:t>1. Ingress rate: events accepted by the gateway per second.</a:t>
            </a:r>
          </a:p>
          <a:p>
            <a:r>
              <a:t>2. Bus lag: consumer offset lag on the durable event bus.</a:t>
            </a:r>
          </a:p>
          <a:p>
            <a:r>
              <a:t>3. Processor lag: processing latency vs event time.</a:t>
            </a:r>
          </a:p>
          <a:p>
            <a:r>
              <a:t>4. Store writes: write throughput to alert state store.</a:t>
            </a:r>
          </a:p>
          <a:p>
            <a:r>
              <a:t>5. Index freshness: lag between alert-store writes and search-index</a:t>
            </a:r>
          </a:p>
          <a:p>
            <a:r>
              <a:t>   availability.</a:t>
            </a:r>
          </a:p>
          <a:p>
            <a:r>
              <a:t>6. Synthetic probe: end-to-end synthetic events per tenant cohort.</a:t>
            </a:r>
          </a:p>
          <a:p>
            <a:r>
              <a:t>7. API p95: dashboard response time.</a:t>
            </a:r>
          </a:p>
          <a:p/>
          <a:p>
            <a:r>
              <a:t>KEY INSIGHT: "A Kubernetes pod being UP is not proof that the pipeline</a:t>
            </a:r>
          </a:p>
          <a:p>
            <a:r>
              <a:t>is processing events correctly."</a:t>
            </a:r>
          </a:p>
          <a:p/>
          <a:p>
            <a:r>
              <a:t>SEV-1 RUNBOOK — WALK THROUGH EACH ROW</a:t>
            </a:r>
          </a:p>
          <a:p>
            <a:r>
              <a:t>1. DECLARE: Single incident commander.  Start customer-impact clock.</a:t>
            </a:r>
          </a:p>
          <a:p>
            <a:r>
              <a:t>   Freeze risky deployments.</a:t>
            </a:r>
          </a:p>
          <a:p>
            <a:r>
              <a:t>2. SCOPE: Determine blast radius — which tenants, regions, event types,</a:t>
            </a:r>
          </a:p>
          <a:p>
            <a:r>
              <a:t>   time window.  Compare metrics across stages.</a:t>
            </a:r>
          </a:p>
          <a:p>
            <a:r>
              <a:t>3. MITIGATE: Choose a CUSTOMER-SAFE degraded mode.  Pause bad rules.</a:t>
            </a:r>
          </a:p>
          <a:p>
            <a:r>
              <a:t>   Restart consumers.  Failover to standby.</a:t>
            </a:r>
          </a:p>
          <a:p>
            <a:r>
              <a:t>4. RECOVER: Replay from durable offsets.  Backfill missing alerts.</a:t>
            </a:r>
          </a:p>
          <a:p>
            <a:r>
              <a:t>   Track completion.</a:t>
            </a:r>
          </a:p>
          <a:p>
            <a:r>
              <a:t>5. PREVENT: Blameless postmortem.  Add synthetic gaps.  Improve gates.</a:t>
            </a:r>
          </a:p>
          <a:p/>
          <a:p>
            <a:r>
              <a:t>OPERATING PRINCIPLE (bottom, in red)</a:t>
            </a:r>
          </a:p>
          <a:p>
            <a:r>
              <a:t>"A stale green Health Center is worse than an explicit degraded state."</a:t>
            </a:r>
          </a:p>
          <a:p>
            <a:r>
              <a:t>This is the single most important sentence in the deck.  It shows you</a:t>
            </a:r>
          </a:p>
          <a:p>
            <a:r>
              <a:t>understand security-product operations.</a:t>
            </a:r>
          </a:p>
          <a:p/>
          <a:p>
            <a:r>
              <a:t>ANTICIPATED QUESTIONS</a:t>
            </a:r>
          </a:p>
          <a:p>
            <a:r>
              <a:t>• "How long does replay take?"</a:t>
            </a:r>
          </a:p>
          <a:p>
            <a:r>
              <a:t>  → Depends on gap duration.  For a 1-hour gap with billions of events,</a:t>
            </a:r>
          </a:p>
          <a:p>
            <a:r>
              <a:t>    expect 20-30 minutes with parallelized consumers.</a:t>
            </a:r>
          </a:p>
          <a:p>
            <a:r>
              <a:t>• "Who gets paged?"</a:t>
            </a:r>
          </a:p>
          <a:p>
            <a:r>
              <a:t>  → On-call SRE + Health Center tech lead + SEM for customer comms.</a:t>
            </a:r>
          </a:p>
          <a:p/>
          <a:p>
            <a:r>
              <a:t>TRANSITION → "Let me show you the multi-quarter roadmap with delivery</a:t>
            </a:r>
          </a:p>
          <a:p>
            <a:r>
              <a:t>gates."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— Slide 7: Roadmap</a:t>
            </a:r>
          </a:p>
          <a:p>
            <a:r>
              <a:t>====================================</a:t>
            </a:r>
          </a:p>
          <a:p/>
          <a:p>
            <a:r>
              <a:t>PURPOSE</a:t>
            </a:r>
          </a:p>
          <a:p>
            <a:r>
              <a:t>Show a credible, multi-quarter execution plan with EXPLICIT GATES that</a:t>
            </a:r>
          </a:p>
          <a:p>
            <a:r>
              <a:t>prevent premature rollout.</a:t>
            </a:r>
          </a:p>
          <a:p/>
          <a:p>
            <a:r>
              <a:t>SWIM-LANE WALK-THROUGH (~60 seconds)</a:t>
            </a:r>
          </a:p>
          <a:p>
            <a:r>
              <a:t>• Telemetry + Processing: contract → adapt → top 4 rules (Q1) →</a:t>
            </a:r>
          </a:p>
          <a:p>
            <a:r>
              <a:t>  scale/replay/idem (Q2) → reusable framework (Q3) → broader catalog (Q4).</a:t>
            </a:r>
          </a:p>
          <a:p>
            <a:r>
              <a:t>• Console + APIs: dashboard/alerts/flags (Q1) → lifecycle/search (Q2) →</a:t>
            </a:r>
          </a:p>
          <a:p>
            <a:r>
              <a:t>  trends/reports/notifs (Q3) → legacy UI consolidation (Q4).</a:t>
            </a:r>
          </a:p>
          <a:p>
            <a:r>
              <a:t>• Operations: SLOs/synthetic/runbooks from DAY ONE (Q1) → game days/</a:t>
            </a:r>
          </a:p>
          <a:p>
            <a:r>
              <a:t>  canaries (Q2) → cost model/onboarding (Q3) → decom runbooks (Q4).</a:t>
            </a:r>
          </a:p>
          <a:p>
            <a:r>
              <a:t>• Legacy Offline: stabilize false-offline (Q1) → shadow compare (Q2) →</a:t>
            </a:r>
          </a:p>
          <a:p>
            <a:r>
              <a:t>  tenant migration (Q3) → retire safe paths (Q4).</a:t>
            </a:r>
          </a:p>
          <a:p/>
          <a:p>
            <a:r>
              <a:t>GATE DEFINITIONS (bottom cards)</a:t>
            </a:r>
          </a:p>
          <a:p>
            <a:r>
              <a:t>1. MVP Gate: cannot GA without end-to-end synthetic events, SLO dashboards,</a:t>
            </a:r>
          </a:p>
          <a:p>
            <a:r>
              <a:t>   and controlled allowlist rollout.</a:t>
            </a:r>
          </a:p>
          <a:p>
            <a:r>
              <a:t>2. GA Gate: cannot go broad without scale testing, replay validation,</a:t>
            </a:r>
          </a:p>
          <a:p>
            <a:r>
              <a:t>   shadow comparison, and incident readiness.</a:t>
            </a:r>
          </a:p>
          <a:p>
            <a:r>
              <a:t>3. Migration Gate: cannot retire legacy without measured FP/FN rates and</a:t>
            </a:r>
          </a:p>
          <a:p>
            <a:r>
              <a:t>   a per-tenant rollback path.</a:t>
            </a:r>
          </a:p>
          <a:p/>
          <a:p>
            <a:r>
              <a:t>KEY MESSAGE: "Operations is a first-class swim lane, not an afterthought.</a:t>
            </a:r>
          </a:p>
          <a:p>
            <a:r>
              <a:t>We ship SLOs and runbooks before we ship features."</a:t>
            </a:r>
          </a:p>
          <a:p/>
          <a:p>
            <a:r>
              <a:t>ANTICIPATED QUESTIONS</a:t>
            </a:r>
          </a:p>
          <a:p>
            <a:r>
              <a:t>• "Can you compress Q1 and Q2?"</a:t>
            </a:r>
          </a:p>
          <a:p>
            <a:r>
              <a:t>  → Possibly, if gateway dependency resolves early.  But I'd rather ship</a:t>
            </a:r>
          </a:p>
          <a:p>
            <a:r>
              <a:t>    a bulletproof MVP than a rushed GA.</a:t>
            </a:r>
          </a:p>
          <a:p>
            <a:r>
              <a:t>• "When is legacy fully retired?"</a:t>
            </a:r>
          </a:p>
          <a:p>
            <a:r>
              <a:t>  → Q4 for safe paths; some long-tail tenants may extend into Q5.</a:t>
            </a:r>
          </a:p>
          <a:p>
            <a:r>
              <a:t>    Explicit tenant-by-tenant migration with rollback.</a:t>
            </a:r>
          </a:p>
          <a:p/>
          <a:p>
            <a:r>
              <a:t>TRANSITION → "Let me address the two biggest disruptions: the gateway</a:t>
            </a:r>
          </a:p>
          <a:p>
            <a:r>
              <a:t>delay and the legacy escalation spike."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— Slide 8: Disruption Management</a:t>
            </a:r>
          </a:p>
          <a:p>
            <a:r>
              <a:t>==================================================</a:t>
            </a:r>
          </a:p>
          <a:p/>
          <a:p>
            <a:r>
              <a:t>PURPOSE</a:t>
            </a:r>
          </a:p>
          <a:p>
            <a:r>
              <a:t>This is where you demonstrate EXECUTION LEADERSHIP.  Two real-world</a:t>
            </a:r>
          </a:p>
          <a:p>
            <a:r>
              <a:t>disruptions that most candidates handle poorly:</a:t>
            </a:r>
          </a:p>
          <a:p>
            <a:r>
              <a:t>1. A dependency team is delayed.</a:t>
            </a:r>
          </a:p>
          <a:p>
            <a:r>
              <a:t>2. A legacy system is burning.</a:t>
            </a:r>
          </a:p>
          <a:p/>
          <a:p>
            <a:r>
              <a:t>GATEWAY DELAY RESPONSE</a:t>
            </a:r>
          </a:p>
          <a:p>
            <a:r>
              <a:t>• Do NOT idle the team.</a:t>
            </a:r>
          </a:p>
          <a:p>
            <a:r>
              <a:t>• Freeze a versioned telemetry contract.</a:t>
            </a:r>
          </a:p>
          <a:p>
            <a:r>
              <a:t>• Build an adapter boundary against that contract.</a:t>
            </a:r>
          </a:p>
          <a:p>
            <a:r>
              <a:t>• Generate synthetic + replayed streams.</a:t>
            </a:r>
          </a:p>
          <a:p>
            <a:r>
              <a:t>• Unblock: processors, schemas, APIs, UI, QA, observability, load tests.</a:t>
            </a:r>
          </a:p>
          <a:p>
            <a:r>
              <a:t>• Negotiate thin-slice integration: route 1-2 high-value signals first.</a:t>
            </a:r>
          </a:p>
          <a:p>
            <a:r>
              <a:t>• Only dependency-bound scope shifts; everything else continues.</a:t>
            </a:r>
          </a:p>
          <a:p/>
          <a:p>
            <a:r>
              <a:t>LEGACY ESCALATION RESPONSE</a:t>
            </a:r>
          </a:p>
          <a:p>
            <a:r>
              <a:t>• Treat as customer trust risk, NOT background maintenance.</a:t>
            </a:r>
          </a:p>
          <a:p>
            <a:r>
              <a:t>• Create a SHORT-LIVED stabilization lane: 2 engineers + QA support.</a:t>
            </a:r>
          </a:p>
          <a:p>
            <a:r>
              <a:t>• Keep 6 engineers on Health Center MVP.  1 tech lead coordinates.</a:t>
            </a:r>
          </a:p>
          <a:p>
            <a:r>
              <a:t>• Mission: instrument → root-cause → patch → reduce support volume.</a:t>
            </a:r>
          </a:p>
          <a:p>
            <a:r>
              <a:t>• Exit criteria are explicit: lane closes after patch + instrumentation +</a:t>
            </a:r>
          </a:p>
          <a:p>
            <a:r>
              <a:t>  support-volume trend review.</a:t>
            </a:r>
          </a:p>
          <a:p/>
          <a:p>
            <a:r>
              <a:t>TEAM ALLOCATION BAR (visual)</a:t>
            </a:r>
          </a:p>
          <a:p>
            <a:r>
              <a:t>• Walk through: 6 build / 2 legacy / 1 QA / 1 coordination = 10 total.</a:t>
            </a:r>
          </a:p>
          <a:p>
            <a:r>
              <a:t>• Emphasize: this is a TEMPORARY allocation, not a permanent split.</a:t>
            </a:r>
          </a:p>
          <a:p>
            <a:r>
              <a:t>• Escalation rule: only increase legacy if Sev-1/Sev-2 across major tenants.</a:t>
            </a:r>
          </a:p>
          <a:p/>
          <a:p>
            <a:r>
              <a:t>LEARNING LOOP</a:t>
            </a:r>
          </a:p>
          <a:p>
            <a:r>
              <a:t>• Every false-offline root cause feeds back into Health Center:</a:t>
            </a:r>
          </a:p>
          <a:p>
            <a:r>
              <a:t>  becomes a test case, a rule refinement, or a migration guardrail.</a:t>
            </a:r>
          </a:p>
          <a:p>
            <a:r>
              <a:t>• This turns the legacy pain into strategic value.</a:t>
            </a:r>
          </a:p>
          <a:p/>
          <a:p>
            <a:r>
              <a:t>ANTICIPATED QUESTIONS</a:t>
            </a:r>
          </a:p>
          <a:p>
            <a:r>
              <a:t>• "What if the gateway delay extends to 4 months?"</a:t>
            </a:r>
          </a:p>
          <a:p>
            <a:r>
              <a:t>  → We can ship MVP entirely on synthetic + existing heartbeat streams.</a:t>
            </a:r>
          </a:p>
          <a:p>
            <a:r>
              <a:t>    Production gateway integration becomes a GA gate.</a:t>
            </a:r>
          </a:p>
          <a:p>
            <a:r>
              <a:t>• "What if escalations consume the whole team?"</a:t>
            </a:r>
          </a:p>
          <a:p>
            <a:r>
              <a:t>  → The escalation rule is explicit.  SEM protects roadmap unless</a:t>
            </a:r>
          </a:p>
          <a:p>
            <a:r>
              <a:t>    active Sev-1/Sev-2 across major tenants.</a:t>
            </a:r>
          </a:p>
          <a:p/>
          <a:p>
            <a:r>
              <a:t>TRANSITION → "Now let me address the people challenge: resolving the</a:t>
            </a:r>
          </a:p>
          <a:p>
            <a:r>
              <a:t>technical conflict between the two senior engineers."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— Slide 9: Conflict Resolution</a:t>
            </a:r>
          </a:p>
          <a:p>
            <a:r>
              <a:t>================================================</a:t>
            </a:r>
          </a:p>
          <a:p/>
          <a:p>
            <a:r>
              <a:t>PURPOSE</a:t>
            </a:r>
          </a:p>
          <a:p>
            <a:r>
              <a:t>This is the PEOPLE LEADERSHIP test.  The interviewer wants to see that</a:t>
            </a:r>
          </a:p>
          <a:p>
            <a:r>
              <a:t>you can lead senior engineers through disagreement WITHOUT:</a:t>
            </a:r>
          </a:p>
          <a:p>
            <a:r>
              <a:t>• Pulling rank ("just do it my way")</a:t>
            </a:r>
          </a:p>
          <a:p>
            <a:r>
              <a:t>• Avoiding the decision ("let's try both")</a:t>
            </a:r>
          </a:p>
          <a:p>
            <a:r>
              <a:t>• Making it personal ("A is right, B is wrong")</a:t>
            </a:r>
          </a:p>
          <a:p/>
          <a:p>
            <a:r>
              <a:t>ORG CHART VISUAL (top)</a:t>
            </a:r>
          </a:p>
          <a:p>
            <a:r>
              <a:t>• Engineer A: advocates stream processing (Kafka Streams / Flink).</a:t>
            </a:r>
          </a:p>
          <a:p>
            <a:r>
              <a:t>• Engineer B: advocates DB writes + cron aggregation.</a:t>
            </a:r>
          </a:p>
          <a:p>
            <a:r>
              <a:t>• SEM (you): turns disagreement into a decision system.</a:t>
            </a:r>
          </a:p>
          <a:p/>
          <a:p>
            <a:r>
              <a:t>4-STEP PROCESS</a:t>
            </a:r>
          </a:p>
          <a:p>
            <a:r>
              <a:t>1. CRITERIA: Define decision criteria BEFORE debating solutions.</a:t>
            </a:r>
          </a:p>
          <a:p>
            <a:r>
              <a:t>   Freshness, scale, cost, operability, delivery risk.</a:t>
            </a:r>
          </a:p>
          <a:p>
            <a:r>
              <a:t>2. SPIKE: One week with realistic data.  Not a toy prototype.</a:t>
            </a:r>
          </a:p>
          <a:p>
            <a:r>
              <a:t>   Realistic cardinality (millions of agents), duplicate-event rates,</a:t>
            </a:r>
          </a:p>
          <a:p>
            <a:r>
              <a:t>   and failure cases (what happens when a processor crashes?).</a:t>
            </a:r>
          </a:p>
          <a:p>
            <a:r>
              <a:t>3. DECISION: Architecture Decision Record (ADR).</a:t>
            </a:r>
          </a:p>
          <a:p>
            <a:r>
              <a:t>   Document: assumptions, constraints, decision, trade-offs, rollback</a:t>
            </a:r>
          </a:p>
          <a:p>
            <a:r>
              <a:t>   trigger, revisit conditions.</a:t>
            </a:r>
          </a:p>
          <a:p>
            <a:r>
              <a:t>4. COMMIT: Both engineers own part of the winning design.</a:t>
            </a:r>
          </a:p>
          <a:p>
            <a:r>
              <a:t>   Engineer A leads the processing layer.</a:t>
            </a:r>
          </a:p>
          <a:p>
            <a:r>
              <a:t>   Engineer B leads simplicity controls and rollback planning.</a:t>
            </a:r>
          </a:p>
          <a:p>
            <a:r>
              <a:t>   This turns disagreement into a STRONGER DESIGN.</a:t>
            </a:r>
          </a:p>
          <a:p/>
          <a:p>
            <a:r>
              <a:t>WHY STREAM PROCESSING WINS</a:t>
            </a:r>
          </a:p>
          <a:p>
            <a:r>
              <a:t>• 5-minute freshness SLO at billions of events/day.</a:t>
            </a:r>
          </a:p>
          <a:p>
            <a:r>
              <a:t>• Stream-time windows naturally model coalescing.</a:t>
            </a:r>
          </a:p>
          <a:p>
            <a:r>
              <a:t>• Durable offsets enable replay.</a:t>
            </a:r>
          </a:p>
          <a:p>
            <a:r>
              <a:t>• Cron risks: late detection, expensive scans, duplicate state.</a:t>
            </a:r>
          </a:p>
          <a:p/>
          <a:p>
            <a:r>
              <a:t>BUT with constraints:</a:t>
            </a:r>
          </a:p>
          <a:p>
            <a:r>
              <a:t>• Only 4 rules in MVP.</a:t>
            </a:r>
          </a:p>
          <a:p>
            <a:r>
              <a:t>• No generic rule engine.</a:t>
            </a:r>
          </a:p>
          <a:p>
            <a:r>
              <a:t>• Feature flags per rule.</a:t>
            </a:r>
          </a:p>
          <a:p>
            <a:r>
              <a:t>• Strong operability: metrics, dashboards, runbooks, rollback.</a:t>
            </a:r>
          </a:p>
          <a:p/>
          <a:p>
            <a:r>
              <a:t>ANTICIPATED QUESTIONS</a:t>
            </a:r>
          </a:p>
          <a:p>
            <a:r>
              <a:t>• "What if they still disagree after the spike?"</a:t>
            </a:r>
          </a:p>
          <a:p>
            <a:r>
              <a:t>  → The SEM makes the call.  The ADR documents it.  Both engineers</a:t>
            </a:r>
          </a:p>
          <a:p>
            <a:r>
              <a:t>    sign off on the document, not just the decision.</a:t>
            </a:r>
          </a:p>
          <a:p>
            <a:r>
              <a:t>• "Have you done this before?"</a:t>
            </a:r>
          </a:p>
          <a:p>
            <a:r>
              <a:t>  → [Prepare a real example from your experience]</a:t>
            </a:r>
          </a:p>
          <a:p/>
          <a:p>
            <a:r>
              <a:t>TRANSITION → "Let me close with the major risks, mitigations, and the</a:t>
            </a:r>
          </a:p>
          <a:p>
            <a:r>
              <a:t>outcomes we expect to deliver."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— Slide 10: Risks, Mitigations &amp; Outcomes</a:t>
            </a:r>
          </a:p>
          <a:p>
            <a:r>
              <a:t>===========================================================</a:t>
            </a:r>
          </a:p>
          <a:p/>
          <a:p>
            <a:r>
              <a:t>PURPOSE</a:t>
            </a:r>
          </a:p>
          <a:p>
            <a:r>
              <a:t>Close strong. This slide should leave the interviewer confident that you</a:t>
            </a:r>
          </a:p>
          <a:p>
            <a:r>
              <a:t>can OPERATE, not just design.</a:t>
            </a:r>
          </a:p>
          <a:p/>
          <a:p>
            <a:r>
              <a:t>RISK MATRIX WALK-THROUGH</a:t>
            </a:r>
          </a:p>
          <a:p>
            <a:r>
              <a:t>Point to each dot and explain:</a:t>
            </a:r>
          </a:p>
          <a:p/>
          <a:p>
            <a:r>
              <a:t>G (Gateway Delay) — HIGH likelihood, HIGH impact.</a:t>
            </a:r>
          </a:p>
          <a:p>
            <a:r>
              <a:t>  Mitigation: adapter contract, synthetic streams, thin-slice integration.</a:t>
            </a:r>
          </a:p>
          <a:p>
            <a:r>
              <a:t>  Why it's manageable: we decouple downstream development from the</a:t>
            </a:r>
          </a:p>
          <a:p>
            <a:r>
              <a:t>  gateway timeline.</a:t>
            </a:r>
          </a:p>
          <a:p/>
          <a:p>
            <a:r>
              <a:t>S (Stream Complexity) — MEDIUM likelihood, HIGH impact.</a:t>
            </a:r>
          </a:p>
          <a:p>
            <a:r>
              <a:t>  Mitigation: narrow MVP rules, SLOs, runbooks, rollback flags.</a:t>
            </a:r>
          </a:p>
          <a:p>
            <a:r>
              <a:t>  Why it's manageable: complexity is bounded by scope control.</a:t>
            </a:r>
          </a:p>
          <a:p/>
          <a:p>
            <a:r>
              <a:t>L (Legacy Drain) — HIGH likelihood, MEDIUM impact.</a:t>
            </a:r>
          </a:p>
          <a:p>
            <a:r>
              <a:t>  Mitigation: dedicated stabilization lane with explicit exit criteria.</a:t>
            </a:r>
          </a:p>
          <a:p>
            <a:r>
              <a:t>  Why it's manageable: short-lived, bounded allocation.</a:t>
            </a:r>
          </a:p>
          <a:p/>
          <a:p>
            <a:r>
              <a:t>Q (Query Latency) — MEDIUM likelihood, MEDIUM impact.</a:t>
            </a:r>
          </a:p>
          <a:p>
            <a:r>
              <a:t>  Mitigation: precomputed read models, bounded APIs, freshness metadata.</a:t>
            </a:r>
          </a:p>
          <a:p>
            <a:r>
              <a:t>  Why it's manageable: standard read-path optimization.</a:t>
            </a:r>
          </a:p>
          <a:p/>
          <a:p>
            <a:r>
              <a:t>N (Noise / Alert Fatigue) — LOW likelihood, MEDIUM impact.</a:t>
            </a:r>
          </a:p>
          <a:p>
            <a:r>
              <a:t>  Mitigation: coalescing, suppression, tenant rollout, feedback loop.</a:t>
            </a:r>
          </a:p>
          <a:p>
            <a:r>
              <a:t>  Why it's manageable: tenant-by-tenant rollout catches noise early.</a:t>
            </a:r>
          </a:p>
          <a:p/>
          <a:p>
            <a:r>
              <a:t>EXPECTED OUTCOMES (bottom)</a:t>
            </a:r>
          </a:p>
          <a:p>
            <a:r>
              <a:t>1. More trustworthy agent-health visibility.</a:t>
            </a:r>
          </a:p>
          <a:p>
            <a:r>
              <a:t>2. Reduced false-offline escalations → less support burden.</a:t>
            </a:r>
          </a:p>
          <a:p>
            <a:r>
              <a:t>3. Reusable Agent Platform foundation → future leverage.</a:t>
            </a:r>
          </a:p>
          <a:p/>
          <a:p>
            <a:r>
              <a:t>CLOSING STATEMENT (memorize this)</a:t>
            </a:r>
          </a:p>
          <a:p>
            <a:r>
              <a:t>"The Health Center program succeeds if it improves customer trust while</a:t>
            </a:r>
          </a:p>
          <a:p>
            <a:r>
              <a:t>creating a durable Agent Platform foundation. The architecture handles</a:t>
            </a:r>
          </a:p>
          <a:p>
            <a:r>
              <a:t>hyperscale telemetry, but the bigger test is execution judgment: narrow</a:t>
            </a:r>
          </a:p>
          <a:p>
            <a:r>
              <a:t>MVP scope, protect customer-facing reliability, absorb dependency delays,</a:t>
            </a:r>
          </a:p>
          <a:p>
            <a:r>
              <a:t>resolve technical conflict with evidence, and keep the team engaged</a:t>
            </a:r>
          </a:p>
          <a:p>
            <a:r>
              <a:t>through operational pressure."</a:t>
            </a:r>
          </a:p>
          <a:p/>
          <a:p>
            <a:r>
              <a:t>ANTICIPATED QUESTIONS</a:t>
            </a:r>
          </a:p>
          <a:p>
            <a:r>
              <a:t>• "What would you cut if you had only one quarter?"</a:t>
            </a:r>
          </a:p>
          <a:p>
            <a:r>
              <a:t>  → Ship top 2 signals (offline + anti-tamper) with synthetic SLOs on</a:t>
            </a:r>
          </a:p>
          <a:p>
            <a:r>
              <a:t>    allowlisted tenants.  No lifecycle, no migration, no search.</a:t>
            </a:r>
          </a:p>
          <a:p>
            <a:r>
              <a:t>• "How do you measure success?"</a:t>
            </a:r>
          </a:p>
          <a:p>
            <a:r>
              <a:t>  → 50% reduction in false-offline escalations within 2 quarters.</a:t>
            </a:r>
          </a:p>
          <a:p>
            <a:r>
              <a:t>    SLO dashboards showing 99%+ freshness compliance.</a:t>
            </a:r>
          </a:p>
          <a:p>
            <a:r>
              <a:t>• "What's the biggest lesson from a past project?"</a:t>
            </a:r>
          </a:p>
          <a:p>
            <a:r>
              <a:t>  → [Prepare a real example]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🛡  Singularity Health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59436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Senior Engineering Manager plan for a hyperscale Agent Platform initiative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842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766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Deliver customer-trust outcomes while building a reusable real-time health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74519"/>
            <a:ext cx="61264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The assignment is not only an architecture exercise. It tests whether we can deliver a strategic platform while absorbing live operational load, dependency delays, and senior-engineer disagreement.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64008" cy="10515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07791"/>
            <a:ext cx="22860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🎯  Customer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46120"/>
            <a:ext cx="2286000" cy="5029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Trusted visibility into agent health across millions of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78892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788920"/>
            <a:ext cx="64008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907791"/>
            <a:ext cx="22860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⚙  Platform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246120"/>
            <a:ext cx="2286000" cy="5029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Reusable telemetry, coalescing, alert lifecycle, and replay capabilities.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8892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788920"/>
            <a:ext cx="64008" cy="10515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907791"/>
            <a:ext cx="22860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🚀  Execution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246120"/>
            <a:ext cx="2286000" cy="5029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MVP in controlled rollout, GA after scale, correctness, and migration gates.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788920"/>
            <a:ext cx="2194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788920"/>
            <a:ext cx="64008" cy="1051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2907791"/>
            <a:ext cx="1920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👥  Org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246120"/>
            <a:ext cx="1920240" cy="5029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Team stays focused without ignoring current customer pain.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43400"/>
            <a:ext cx="1965960" cy="438912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</a:rPr>
              <a:t>⏱  &lt;5 min 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4343400"/>
            <a:ext cx="1965960" cy="43891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</a:rPr>
              <a:t>⚡  &lt;200 ms API p95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4343400"/>
            <a:ext cx="2148840" cy="438912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</a:rPr>
              <a:t>📊  Billions events/day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4343400"/>
            <a:ext cx="1920240" cy="43891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</a:rPr>
              <a:t>🔗  Replay + backfill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343400"/>
            <a:ext cx="1828800" cy="43891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F172A"/>
                </a:solidFill>
              </a:rPr>
              <a:t>🔒  Tenant rollout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106070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Leadership thesis: protect customers now, reduce legacy drag, and land the new platform through staged scope and evidence-based decisions.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Calibri"/>
              </a:rPr>
              <a:t>Singularity Health Center  |  Agent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47556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🎯  Scope, SLOs, And Delivery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59436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Define what matters before debating technology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842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64008" cy="1143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61872"/>
            <a:ext cx="3200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✅  MVP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020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Offline / connectivity loss
Agent disabled
Anti-tamper disabled
Low disk / resource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64008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261872"/>
            <a:ext cx="3200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🚀  GA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60020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Alert lifecycle
Suppression and drill-down
Shadow migration from heartbeat
Tenant-wide rollout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4300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143000"/>
            <a:ext cx="64008" cy="11430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261872"/>
            <a:ext cx="3200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⚠  Explicitly Deferred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600200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Generic rule builder
Advanced analytics
Custom notifications
Full legacy retirement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8368" y="2788920"/>
          <a:ext cx="10881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828800"/>
                <a:gridCol w="6812280"/>
              </a:tblGrid>
              <a:tr h="411480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SLO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Detection freshness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99% &lt; 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Trustworthy health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Dashboard latency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p95 &lt; 200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Operator workflow speed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Silent gap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&lt; 5 min to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No stale green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Accepted event loss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0 after durable bus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Replayable correctness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77240" y="53492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◆  Guardrail: every MVP feature must improve customer actionability or de-risk the platform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Calibri"/>
              </a:rPr>
              <a:t>Singularity Health Center  |  Agent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⚙ 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59436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Cloud-neutral, replayable, and intentionally separated into hot, read, and cold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842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143000" cy="777240"/>
          </a:xfrm>
          <a:prstGeom prst="roundRect">
            <a:avLst/>
          </a:prstGeom>
          <a:solidFill>
            <a:srgbClr val="CCFBF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Agents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1912" y="2212848"/>
            <a:ext cx="109727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37360" y="1828800"/>
            <a:ext cx="1143000" cy="77724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Ingestion
Gateway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07791" y="2212848"/>
            <a:ext cx="292609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1828800"/>
            <a:ext cx="1143000" cy="777240"/>
          </a:xfrm>
          <a:prstGeom prst="roundRect">
            <a:avLst/>
          </a:prstGeom>
          <a:solidFill>
            <a:srgbClr val="EDE9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Durable
Event Bus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16552" y="2212848"/>
            <a:ext cx="292608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80" y="1828800"/>
            <a:ext cx="1143000" cy="77724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Stream
Processing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25312" y="2212848"/>
            <a:ext cx="292608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828800"/>
            <a:ext cx="114300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Rules +
Coalescing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34071" y="2212848"/>
            <a:ext cx="292608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1828800"/>
            <a:ext cx="1143000" cy="777240"/>
          </a:xfrm>
          <a:prstGeom prst="roundRect">
            <a:avLst/>
          </a:prstGeom>
          <a:solidFill>
            <a:srgbClr val="CCFBF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Alert
State Store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42832" y="2212848"/>
            <a:ext cx="292608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81160" y="1828800"/>
            <a:ext cx="1143000" cy="77724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Read Model
+ Search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51592" y="2212848"/>
            <a:ext cx="292608" cy="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789920" y="1828800"/>
            <a:ext cx="1143000" cy="777240"/>
          </a:xfrm>
          <a:prstGeom prst="roundRect">
            <a:avLst/>
          </a:prstGeom>
          <a:solidFill>
            <a:srgbClr val="EDE9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APIs
+ Console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840480"/>
            <a:ext cx="1143000" cy="658368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1">
                <a:solidFill>
                  <a:srgbClr val="0F172A"/>
                </a:solidFill>
              </a:rPr>
              <a:t>Data Lake
Audit / Replay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22191" y="2633472"/>
            <a:ext cx="0" cy="1161288"/>
          </a:xfrm>
          <a:prstGeom prst="line">
            <a:avLst/>
          </a:prstGeom>
          <a:ln w="152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0" y="3840480"/>
            <a:ext cx="1143000" cy="658368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1">
                <a:solidFill>
                  <a:srgbClr val="0F172A"/>
                </a:solidFill>
              </a:rPr>
              <a:t>Lifecycle
Store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39327" y="2633472"/>
            <a:ext cx="0" cy="1161288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91640" y="2816352"/>
            <a:ext cx="12344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475569"/>
                </a:solidFill>
                <a:latin typeface="Calibri"/>
              </a:rPr>
              <a:t>Kafka / PubSub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816352"/>
            <a:ext cx="12344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475569"/>
                </a:solidFill>
                <a:latin typeface="Calibri"/>
              </a:rPr>
              <a:t>Kafka / Kinesis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816352"/>
            <a:ext cx="12344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475569"/>
                </a:solidFill>
                <a:latin typeface="Calibri"/>
              </a:rPr>
              <a:t>Flink / KStreams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816352"/>
            <a:ext cx="12344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475569"/>
                </a:solidFill>
                <a:latin typeface="Calibri"/>
              </a:rPr>
              <a:t>DDB / Cassandra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816352"/>
            <a:ext cx="12344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475569"/>
                </a:solidFill>
                <a:latin typeface="Calibri"/>
              </a:rPr>
              <a:t>OpenSearch / 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83480"/>
            <a:ext cx="3200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983480"/>
            <a:ext cx="64008" cy="8686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102352"/>
            <a:ext cx="2926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⚡  Hot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440680"/>
            <a:ext cx="29260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Event-time detection, coalescing, alert transitions, freshness SLO.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983480"/>
            <a:ext cx="3200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60" y="4983480"/>
            <a:ext cx="64008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5102352"/>
            <a:ext cx="2926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📊  Read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5440680"/>
            <a:ext cx="29260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Precomputed dashboard views, bounded queries, freshness metadata.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4983480"/>
            <a:ext cx="3200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20" y="4983480"/>
            <a:ext cx="64008" cy="8686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2" y="5102352"/>
            <a:ext cx="2926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🔒  Cold Path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2" y="5440680"/>
            <a:ext cx="29260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Long-term retention, backfill, analytics, and rule tuning.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Calibri"/>
              </a:rPr>
              <a:t>Singularity Health Center  |  Agent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9224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⚡  Read Path And Latency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59436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The UI should query health state, not raw telemetry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842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828800" cy="685800"/>
          </a:xfrm>
          <a:prstGeom prst="roundRect">
            <a:avLst/>
          </a:prstGeom>
          <a:solidFill>
            <a:srgbClr val="EDE9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Console
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325880"/>
            <a:ext cx="1828800" cy="68580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Health APIs
Bounded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325880"/>
            <a:ext cx="1828800" cy="685800"/>
          </a:xfrm>
          <a:prstGeom prst="roundRect">
            <a:avLst/>
          </a:prstGeom>
          <a:solidFill>
            <a:srgbClr val="CCFBF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Read Model
Aggregates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325880"/>
            <a:ext cx="1828800" cy="68580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Search Index
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1325880"/>
            <a:ext cx="1463040" cy="68580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0F172A"/>
                </a:solidFill>
              </a:rPr>
              <a:t>Alert
State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1673352"/>
            <a:ext cx="50292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92040" y="1673352"/>
            <a:ext cx="50292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23760" y="1673352"/>
            <a:ext cx="502919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55480" y="1673352"/>
            <a:ext cx="45720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2743200"/>
          <a:ext cx="67665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25880"/>
                <a:gridCol w="3520440"/>
              </a:tblGrid>
              <a:tr h="420624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⏱  Budget Segment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Design Choice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Auth /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20–40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Tenant-scoped claims &amp; request shaping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API orchestration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40–60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No fanout over raw telemetry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Read /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70–90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Precomputed views &amp; bounded filters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Serialization / network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20–30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Slim response models &amp; pagination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001000" y="2788920"/>
            <a:ext cx="3429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788920"/>
            <a:ext cx="64008" cy="8229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907791"/>
            <a:ext cx="31546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⚠  Graceful Degradation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246120"/>
            <a:ext cx="3154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If search lags, serve current alert state with explicit freshness metadata.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794760"/>
            <a:ext cx="3429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3794760"/>
            <a:ext cx="64008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3913632"/>
            <a:ext cx="31546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🔒  Query Discipline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4251960"/>
            <a:ext cx="3154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Pagination, capped time windows, no tenant-wide scans from UI paths.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4800600"/>
            <a:ext cx="3429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4800600"/>
            <a:ext cx="64008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4919472"/>
            <a:ext cx="31546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✅  Correctness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5257800"/>
            <a:ext cx="3154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At-least-once ingestion plus idempotent alert transitions.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Calibri"/>
              </a:rPr>
              <a:t>Singularity Health Center  |  Agent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🔥  Alert Coalescing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59436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Turn noisy telemetry into actionable health state within the 5-minute SLO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842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4754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Example: 50 anti-tamper disabled events over 10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212080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64792"/>
            <a:ext cx="164592" cy="164592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764792"/>
            <a:ext cx="164592" cy="164592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1764792"/>
            <a:ext cx="164592" cy="164592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03120" y="1764792"/>
            <a:ext cx="164592" cy="164592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51760" y="1764792"/>
            <a:ext cx="164592" cy="164592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54680" y="1764792"/>
            <a:ext cx="164592" cy="164592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1764792"/>
            <a:ext cx="164592" cy="16459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51960" y="1764792"/>
            <a:ext cx="164592" cy="16459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54880" y="1764792"/>
            <a:ext cx="164592" cy="16459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03520" y="1764792"/>
            <a:ext cx="164592" cy="16459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15000" y="1764792"/>
            <a:ext cx="164592" cy="16459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2212848"/>
            <a:ext cx="1097280" cy="310896"/>
          </a:xfrm>
          <a:prstGeom prst="roundRect">
            <a:avLst/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F172A"/>
                </a:solidFill>
              </a:rPr>
              <a:t>t =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2212848"/>
            <a:ext cx="1005840" cy="310896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F172A"/>
                </a:solidFill>
              </a:rPr>
              <a:t>t = 10 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097280"/>
            <a:ext cx="1417320" cy="585216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F172A"/>
                </a:solidFill>
              </a:rPr>
              <a:t>🔗  Key By
Tenant+Agent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097280"/>
            <a:ext cx="1417320" cy="585216"/>
          </a:xfrm>
          <a:prstGeom prst="roundRect">
            <a:avLst/>
          </a:prstGeom>
          <a:solidFill>
            <a:srgbClr val="CCFBF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F172A"/>
                </a:solidFill>
              </a:rPr>
              <a:t>⏱  Window
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097280"/>
            <a:ext cx="1417320" cy="585216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F172A"/>
                </a:solidFill>
              </a:rPr>
              <a:t>✅  Alert
Transition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18120" y="1389888"/>
            <a:ext cx="41148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46920" y="1389888"/>
            <a:ext cx="41148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30632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063240"/>
            <a:ext cx="64008" cy="96012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3182112"/>
            <a:ext cx="3017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⚙  State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3520440"/>
            <a:ext cx="3017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Open → update evidence count → suppress duplicate → resolve when healthy signal appears.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0632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063240"/>
            <a:ext cx="64008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182112"/>
            <a:ext cx="3017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🔒  Auditability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3520440"/>
            <a:ext cx="3017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Store raw event references and rule version, not every raw event in the UI path.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60" y="306324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09560" y="3063240"/>
            <a:ext cx="64008" cy="9601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4152" y="3182112"/>
            <a:ext cx="3017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🎯  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3520440"/>
            <a:ext cx="30175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Use stream processing for coalescing; keep rule scope narrow for MVP.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61772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⚠  Why not cron-first: late detection, expensive scans, duplicate intermediate state, and weak replay semantics.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✅  How to control complexity: fixed MVP rules, explicit windows, idempotent updates, per-rule metrics, and rollback flags.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Calibri"/>
              </a:rPr>
              <a:t>Singularity Health Center  |  Agent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🛡  Reliability Model And Sev-1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59436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Design for silent failure detection, not just service uptime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842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5156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0F172A"/>
                </a:solidFill>
              </a:rPr>
              <a:t>Ingress
rate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1563624"/>
            <a:ext cx="45720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1234440"/>
            <a:ext cx="1051560" cy="658368"/>
          </a:xfrm>
          <a:prstGeom prst="roundRect">
            <a:avLst/>
          </a:prstGeom>
          <a:solidFill>
            <a:srgbClr val="EDE9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0F172A"/>
                </a:solidFill>
              </a:rPr>
              <a:t>Bus
lag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1563624"/>
            <a:ext cx="45720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0480" y="1234440"/>
            <a:ext cx="1051560" cy="658368"/>
          </a:xfrm>
          <a:prstGeom prst="roundRect">
            <a:avLst/>
          </a:prstGeom>
          <a:solidFill>
            <a:srgbClr val="CCFBF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0F172A"/>
                </a:solidFill>
              </a:rPr>
              <a:t>Processor
lag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1563624"/>
            <a:ext cx="45720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94960" y="1234440"/>
            <a:ext cx="1051560" cy="658368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0F172A"/>
                </a:solidFill>
              </a:rPr>
              <a:t>Store
writes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46520" y="1563624"/>
            <a:ext cx="45720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0" y="1234440"/>
            <a:ext cx="1051560" cy="658368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0F172A"/>
                </a:solidFill>
              </a:rPr>
              <a:t>Index
freshness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1563624"/>
            <a:ext cx="45720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03920" y="1234440"/>
            <a:ext cx="1051560" cy="658368"/>
          </a:xfrm>
          <a:prstGeom prst="roundRect">
            <a:avLst/>
          </a:prstGeom>
          <a:solidFill>
            <a:srgbClr val="FFE4E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0F172A"/>
                </a:solidFill>
              </a:rPr>
              <a:t>Synthetic
probe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55480" y="1563624"/>
            <a:ext cx="45720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58400" y="1234440"/>
            <a:ext cx="105156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80" b="1">
                <a:solidFill>
                  <a:srgbClr val="0F172A"/>
                </a:solidFill>
              </a:rPr>
              <a:t>API
p95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2514600"/>
          <a:ext cx="108356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77639"/>
                <a:gridCol w="5029200"/>
              </a:tblGrid>
              <a:tr h="426720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🔥  Incident Step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SEM / IC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Technical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Declare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Single IC, comms owner, customer impact clock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Freeze risky deploys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Tenant, region, event type, time window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Compare stage metrics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Mitigate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Choose customer-safe degraded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Failover, pause rules, restart consumers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Recover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Track backfill completion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Replay from durable offsets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Prevent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Postmortem and owners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4155"/>
                          </a:solidFill>
                        </a:rPr>
                        <a:t>Synthetic gaps, gates, runbooks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22960" y="553212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11D48"/>
                </a:solidFill>
                <a:latin typeface="Calibri"/>
              </a:rPr>
              <a:t>⚠  Operating principle: a stale green Health Center is worse than an explicit degraded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Calibri"/>
              </a:rPr>
              <a:t>Singularity Health Center  |  Agent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🚀  Roadmap: MVP, GA, Platformization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59436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Multi-quarter plan with customer-safety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842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31720" y="1143000"/>
            <a:ext cx="141732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🌱  Q1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143000"/>
            <a:ext cx="141732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🚀  Q2 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143000"/>
            <a:ext cx="141732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⚙  Q3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143000"/>
            <a:ext cx="141732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🏆  Q4 Reduce 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19656"/>
            <a:ext cx="15087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Calibri"/>
              </a:rPr>
              <a:t>Telemetry +
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69164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Contract
Adapter
Top 4 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201168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169164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Replay
Scale test
Idempotency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12280" y="201168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18120" y="169164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Reusable
coalescing
framework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55480" y="201168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561320" y="1691640"/>
            <a:ext cx="1508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Broader
health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779776"/>
            <a:ext cx="15087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Calibri"/>
              </a:rPr>
              <a:t>Console +
APIs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265176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Dashboard
Alert list
Feature flag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69080" y="297180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74920" y="265176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Lifecycle
Search
Drill-down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12280" y="297180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818120" y="265176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Trends
Reports
Notifications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55480" y="297180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561320" y="2651760"/>
            <a:ext cx="1508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Legacy UI
consolidation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739896"/>
            <a:ext cx="15087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Calibri"/>
              </a:rPr>
              <a:t>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361188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SLOs
Synthetic
Runbooks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69080" y="393192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74920" y="361188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Game days
Canaries
GA gates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12280" y="393192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818120" y="361188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Cost model
Ownership
Onboarding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55480" y="393192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561320" y="3611880"/>
            <a:ext cx="1508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Decom
runbooks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700016"/>
            <a:ext cx="15087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Calibri"/>
              </a:rPr>
              <a:t>Legacy
Offline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31720" y="457200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Stabilize
false offline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69080" y="489204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074920" y="457200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Shadow
compare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12280" y="489204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818120" y="4572000"/>
            <a:ext cx="1737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Tenant
migration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555480" y="4892040"/>
            <a:ext cx="5029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561320" y="4572000"/>
            <a:ext cx="15087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10" b="1">
                <a:solidFill>
                  <a:srgbClr val="0F172A"/>
                </a:solidFill>
              </a:rPr>
              <a:t>Retire
safe paths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715000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5715000"/>
            <a:ext cx="64008" cy="5943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5833872"/>
            <a:ext cx="3200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✅  MVP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" y="6172200"/>
            <a:ext cx="3200400" cy="45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End-to-end synthetic, top 4 signals, SLO dashboards, allowlist rollout.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5715000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0" y="5715000"/>
            <a:ext cx="64008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3712" y="5833872"/>
            <a:ext cx="3200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🎯  GA 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6172200"/>
            <a:ext cx="3200400" cy="45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Scale, replay, correctness, shadow validation, incident readiness.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5715000"/>
            <a:ext cx="3474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92440" y="5715000"/>
            <a:ext cx="64008" cy="5943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7031" y="5833872"/>
            <a:ext cx="3200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⚠  Migration Gate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57031" y="6172200"/>
            <a:ext cx="3200400" cy="45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Measured FP/FN rate and rollback path per tenant cohort.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92240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Calibri"/>
              </a:rPr>
              <a:t>Singularity Health Center  |  Agent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9224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⚠  Dependency Delay And Operational 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59436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Absorb real-world disruption without pretending capacity is infinite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842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64008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261872"/>
            <a:ext cx="5029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🔗  Gateway Delayed By Two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002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Freeze telemetry contract, build adapter boundary, generate synthetic/replayed streams, negotiate thin-slice routing for highest-value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4300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143000"/>
            <a:ext cx="64008" cy="91440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261872"/>
            <a:ext cx="4846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🔥  Legacy Offline Escalations +40%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600200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Treat as customer trust risk; stabilize with a short-lived lane, not a full-team roadmap derailment.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45720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👥  10-person team allocation during escalation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063240"/>
            <a:ext cx="3950208" cy="50292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27248"/>
            <a:ext cx="3858768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3950208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19" b="0">
                <a:solidFill>
                  <a:srgbClr val="475569"/>
                </a:solidFill>
                <a:latin typeface="Calibri"/>
              </a:rPr>
              <a:t>Health Center build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7448" y="3063240"/>
            <a:ext cx="1316736" cy="502920"/>
          </a:xfrm>
          <a:prstGeom prst="rect">
            <a:avLst/>
          </a:prstGeom>
          <a:solidFill>
            <a:srgbClr val="E11D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3127248"/>
            <a:ext cx="1225295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3703320"/>
            <a:ext cx="131673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19" b="0">
                <a:solidFill>
                  <a:srgbClr val="475569"/>
                </a:solidFill>
                <a:latin typeface="Calibri"/>
              </a:rPr>
              <a:t>Legacy stabilization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44183" y="3063240"/>
            <a:ext cx="658368" cy="502920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9903" y="3127248"/>
            <a:ext cx="566928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4183" y="3703320"/>
            <a:ext cx="658368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19" b="0">
                <a:solidFill>
                  <a:srgbClr val="475569"/>
                </a:solidFill>
                <a:latin typeface="Calibri"/>
              </a:rPr>
              <a:t>QA / release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02551" y="3063240"/>
            <a:ext cx="658368" cy="502920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1" y="3127248"/>
            <a:ext cx="566928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1" y="3703320"/>
            <a:ext cx="658368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19" b="0">
                <a:solidFill>
                  <a:srgbClr val="475569"/>
                </a:solidFill>
                <a:latin typeface="Calibri"/>
              </a:rPr>
              <a:t>Tech lead coordination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260604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26679" y="2606040"/>
            <a:ext cx="64008" cy="7772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91271" y="2724912"/>
            <a:ext cx="3383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✅  Exit Criteria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1" y="3063240"/>
            <a:ext cx="3383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Legacy lane ends after top root cause patch, instrumentation, and support-volume trend review.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361188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26679" y="3611880"/>
            <a:ext cx="64008" cy="7772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1" y="3730752"/>
            <a:ext cx="3383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⚠  Escalation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1271" y="4069080"/>
            <a:ext cx="3383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Increase allocation only for active Sev-1/Sev-2 impact across major tenants.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4617720"/>
            <a:ext cx="3657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79" y="4617720"/>
            <a:ext cx="64008" cy="777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1271" y="4736592"/>
            <a:ext cx="33832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⚙  Learning 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1" y="5074920"/>
            <a:ext cx="3383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Each false-offline root cause becomes a Health Center test, rule refinement, or migration guardrail.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Calibri"/>
              </a:rPr>
              <a:t>Singularity Health Center  |  Agent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👥  Technical Conflict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59436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Use evidence, decision criteria, and ownership to align senior engineers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842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2057400" cy="713232"/>
          </a:xfrm>
          <a:prstGeom prst="roundRect">
            <a:avLst/>
          </a:prstGeom>
          <a:solidFill>
            <a:srgbClr val="CCFBF1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0F172A"/>
                </a:solidFill>
              </a:rPr>
              <a:t>⚡  Engineer A
Stream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1234440"/>
            <a:ext cx="2057400" cy="713232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0F172A"/>
                </a:solidFill>
              </a:rPr>
              <a:t>⚙  Engineer B
DB + cron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143000"/>
            <a:ext cx="2926080" cy="89611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</a:rPr>
              <a:t>👥  SEM Role
Turn disagreement into
a decision system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1591056"/>
            <a:ext cx="1645920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98079" y="1591056"/>
            <a:ext cx="1874521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2743200"/>
            <a:ext cx="2331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64008" cy="100584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862072"/>
            <a:ext cx="2057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🎯  1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200400"/>
            <a:ext cx="2057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Freshness, scale, cost, operability, delivery risk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54679" y="3246120"/>
            <a:ext cx="347472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11879" y="2743200"/>
            <a:ext cx="2331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79" y="2743200"/>
            <a:ext cx="64008" cy="1005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6472" y="2862072"/>
            <a:ext cx="2057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⚙  2 Spike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3200400"/>
            <a:ext cx="2057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One week with realistic cardinality and failure cases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0" y="3246120"/>
            <a:ext cx="347472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2743200"/>
            <a:ext cx="2331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743200"/>
            <a:ext cx="64008" cy="10058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862072"/>
            <a:ext cx="2057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✅  3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200400"/>
            <a:ext cx="2057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ADR with assumptions, rollback, and revisit trigger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32520" y="3246120"/>
            <a:ext cx="347472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9719" y="2743200"/>
            <a:ext cx="2331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19" y="2743200"/>
            <a:ext cx="64008" cy="10058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1" y="2862072"/>
            <a:ext cx="2057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👥  4 Commit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1" y="3200400"/>
            <a:ext cx="2057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Both engineers own part of the winning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6177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◆  Expected decision: stream processing for coalescing, constrained to MVP rules and strong operability controls.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475569"/>
                </a:solidFill>
              </a:defRPr>
            </a:pPr>
            <a:r>
              <a:t>⚡  Engineer A leads processing design and SLO instrumentation.</a:t>
            </a:r>
          </a:p>
          <a:p>
            <a:pPr>
              <a:spcAft>
                <a:spcPts val="400"/>
              </a:spcAft>
              <a:defRPr sz="1080">
                <a:solidFill>
                  <a:srgbClr val="475569"/>
                </a:solidFill>
              </a:defRPr>
            </a:pPr>
            <a:r>
              <a:t>⚙  Engineer B leads simplicity controls: bounded scope, failure-mode review, cost model, and rollback plan.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Calibri"/>
              </a:rPr>
              <a:t>Singularity Health Center  |  Agent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🏆  Major Risks, Mitigations, And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59436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Close with operating maturity, not a technology shopping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842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4206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⚠  Risk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58183"/>
            <a:ext cx="749808" cy="749808"/>
          </a:xfrm>
          <a:prstGeom prst="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08376"/>
            <a:ext cx="749808" cy="749808"/>
          </a:xfrm>
          <a:prstGeom prst="rect">
            <a:avLst/>
          </a:prstGeom>
          <a:solidFill>
            <a:srgbClr val="FEF3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58568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81328" y="3758183"/>
            <a:ext cx="749808" cy="749808"/>
          </a:xfrm>
          <a:prstGeom prst="rect">
            <a:avLst/>
          </a:prstGeom>
          <a:solidFill>
            <a:srgbClr val="FEF3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81328" y="3008376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81328" y="2258568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81328" y="1508760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31136" y="3758183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31136" y="3008376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31136" y="2258568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31136" y="1508760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80944" y="3758183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80944" y="3008376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80944" y="2258568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80944" y="1508760"/>
            <a:ext cx="749808" cy="749808"/>
          </a:xfrm>
          <a:prstGeom prst="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30175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Likelihood 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2560320"/>
            <a:ext cx="411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Impact</a:t>
            </a:r>
          </a:p>
        </p:txBody>
      </p:sp>
      <p:sp>
        <p:nvSpPr>
          <p:cNvPr id="25" name="Oval 24"/>
          <p:cNvSpPr/>
          <p:nvPr/>
        </p:nvSpPr>
        <p:spPr>
          <a:xfrm>
            <a:off x="3182112" y="1691639"/>
            <a:ext cx="329184" cy="32918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27832" y="1755648"/>
            <a:ext cx="18288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27" name="Oval 26"/>
          <p:cNvSpPr/>
          <p:nvPr/>
        </p:nvSpPr>
        <p:spPr>
          <a:xfrm>
            <a:off x="2432304" y="1691639"/>
            <a:ext cx="329184" cy="32918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78024" y="1755648"/>
            <a:ext cx="18288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9" name="Oval 28"/>
          <p:cNvSpPr/>
          <p:nvPr/>
        </p:nvSpPr>
        <p:spPr>
          <a:xfrm>
            <a:off x="3182112" y="2441448"/>
            <a:ext cx="329184" cy="329184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7832" y="2505456"/>
            <a:ext cx="18288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31" name="Oval 30"/>
          <p:cNvSpPr/>
          <p:nvPr/>
        </p:nvSpPr>
        <p:spPr>
          <a:xfrm>
            <a:off x="2432304" y="2441448"/>
            <a:ext cx="329184" cy="329184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78024" y="2505456"/>
            <a:ext cx="18288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33" name="Oval 32"/>
          <p:cNvSpPr/>
          <p:nvPr/>
        </p:nvSpPr>
        <p:spPr>
          <a:xfrm>
            <a:off x="1682496" y="2441448"/>
            <a:ext cx="329184" cy="329184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28216" y="2505456"/>
            <a:ext cx="18288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1234440"/>
            <a:ext cx="3383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1234440"/>
            <a:ext cx="64008" cy="685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1353312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🔗  G  Gateway Delay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2" y="1691640"/>
            <a:ext cx="310896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Adapter contract, synthetic streams, thin-slice integration.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1234440"/>
            <a:ext cx="3383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1234440"/>
            <a:ext cx="64008" cy="685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65592" y="1353312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⚙  S  Stream Complexity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5592" y="1691640"/>
            <a:ext cx="310896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Narrow MVP rules, SLOs, runbooks, rollback flags.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2148840"/>
            <a:ext cx="3383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2148840"/>
            <a:ext cx="64008" cy="68580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2267712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🔥  L  Legacy Drain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62272" y="2606040"/>
            <a:ext cx="310896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Two-engineer stabilization lane with exit criteria.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2148840"/>
            <a:ext cx="3383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01000" y="2148840"/>
            <a:ext cx="64008" cy="685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65592" y="2267712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⏱  Q  Query Latency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65592" y="2606040"/>
            <a:ext cx="310896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Precomputed read models, bounded APIs, freshness metadata.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3063240"/>
            <a:ext cx="3383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3063240"/>
            <a:ext cx="64008" cy="6858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62272" y="3182112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⚠  N  Noise / Alert Fatigue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62272" y="3520440"/>
            <a:ext cx="310896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30" b="0">
                <a:solidFill>
                  <a:srgbClr val="475569"/>
                </a:solidFill>
                <a:latin typeface="Calibri"/>
              </a:rPr>
              <a:t>Coalescing, suppression, tenant rollout, support feedback loop.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3400" y="4343400"/>
            <a:ext cx="7040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⭐  Expected Business Outcomes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4773168"/>
            <a:ext cx="6766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✅  More trustworthy agent-health visibility for customers and support.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📊  Reduced false-offline escalations and less legacy operational drag.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🚀  Reusable Agent Platform foundation for future health and alerting use cases.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92240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Calibri"/>
              </a:rPr>
              <a:t>Singularity Health Center  |  Agent Platform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492240"/>
            <a:ext cx="7315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